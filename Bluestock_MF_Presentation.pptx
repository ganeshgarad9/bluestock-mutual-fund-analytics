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B3D91"/>
                </a:solidFill>
              </a:defRPr>
            </a:pPr>
            <a:r>
              <a:t>Mutual Fund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F2A44"/>
                </a:solidFill>
              </a:defRPr>
            </a:pPr>
            <a:r>
              <a:t>Bluestock Fintech Capstone | Final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840480"/>
            <a:ext cx="2011680" cy="91440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3D91"/>
                </a:solidFill>
              </a:defRPr>
            </a:pPr>
            <a:r>
              <a:t>40</a:t>
            </a:r>
            <a:br/>
            <a:r>
              <a:t>Schemes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79" y="3840480"/>
            <a:ext cx="2011680" cy="91440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3D91"/>
                </a:solidFill>
              </a:defRPr>
            </a:pPr>
            <a:r>
              <a:t>46K</a:t>
            </a:r>
            <a:br/>
            <a:r>
              <a:t>NAV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2011680" cy="91440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3D91"/>
                </a:solidFill>
              </a:defRPr>
            </a:pPr>
            <a:r>
              <a:t>32.8K</a:t>
            </a:r>
            <a:br/>
            <a:r>
              <a:t>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19" y="3840480"/>
            <a:ext cx="2011680" cy="91440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3D91"/>
                </a:solidFill>
              </a:defRPr>
            </a:pPr>
            <a:r>
              <a:t>7</a:t>
            </a:r>
            <a:br/>
            <a:r>
              <a:t>Project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A44"/>
                </a:solidFill>
              </a:defRPr>
            </a:pPr>
            <a:r>
              <a:t>Mutual fund data is spread across NAV, AUM, SIP, transaction, holdings, and benchmark datasets.</a:t>
            </a:r>
          </a:p>
          <a:p>
            <a:pPr>
              <a:spcAft>
                <a:spcPts val="800"/>
              </a:spcAft>
              <a:defRPr sz="1700">
                <a:solidFill>
                  <a:srgbClr val="1F2A44"/>
                </a:solidFill>
              </a:defRPr>
            </a:pPr>
            <a:r>
              <a:t>Analysts need a repeatable pipeline to clean, validate, store, analyze, and visualize this data.</a:t>
            </a:r>
          </a:p>
          <a:p>
            <a:pPr>
              <a:spcAft>
                <a:spcPts val="800"/>
              </a:spcAft>
              <a:defRPr sz="1700">
                <a:solidFill>
                  <a:srgbClr val="1F2A44"/>
                </a:solidFill>
              </a:defRPr>
            </a:pPr>
            <a:r>
              <a:t>The project builds a complete analytics platform for fund comparison, investor analytics, and risk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920240"/>
            <a:ext cx="4754880" cy="12801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B3D91"/>
                </a:solidFill>
              </a:defRPr>
            </a:pPr>
            <a:r>
              <a:t>Goal: Convert raw mutual fund data into decision-ready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40 fund master records with fund house, category, plan, benchmark, expense ratio and risk profile.</a:t>
            </a:r>
          </a:p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46,000 NAV history records for daily trend and return calculations.</a:t>
            </a:r>
          </a:p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32,778 investor transactions for cohort, SIP, geography and demographic analysis.</a:t>
            </a:r>
          </a:p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AUM, SIP inflow, folio count, category inflow, holdings and benchmark index datasets.</a:t>
            </a:r>
          </a:p>
        </p:txBody>
      </p:sp>
      <p:pic>
        <p:nvPicPr>
          <p:cNvPr id="6" name="Picture 5" descr="03_aum_growth_by_fund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554480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91"/>
                </a:solidFill>
              </a:defRPr>
            </a:pPr>
            <a:r>
              <a:t>Raw CSV + API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2331720"/>
            <a:ext cx="411480" cy="320040"/>
          </a:xfrm>
          <a:prstGeom prst="rightArrow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2103120"/>
            <a:ext cx="1554480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91"/>
                </a:solidFill>
              </a:defRPr>
            </a:pPr>
            <a:r>
              <a:t>Python ETL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331720"/>
            <a:ext cx="411480" cy="320040"/>
          </a:xfrm>
          <a:prstGeom prst="rightArrow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2103120"/>
            <a:ext cx="1554480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91"/>
                </a:solidFill>
              </a:defRPr>
            </a:pPr>
            <a:r>
              <a:t>Cleaned CSVs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79" y="2331720"/>
            <a:ext cx="411480" cy="320040"/>
          </a:xfrm>
          <a:prstGeom prst="rightArrow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199" y="2103120"/>
            <a:ext cx="1554480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91"/>
                </a:solidFill>
              </a:defRPr>
            </a:pPr>
            <a:r>
              <a:t>SQLite DB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43800" y="2331720"/>
            <a:ext cx="411480" cy="320040"/>
          </a:xfrm>
          <a:prstGeom prst="rightArrow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2103120"/>
            <a:ext cx="1554480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91"/>
                </a:solidFill>
              </a:defRPr>
            </a:pPr>
            <a:r>
              <a:t>Analytics Notebooks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8319" y="2331720"/>
            <a:ext cx="411480" cy="320040"/>
          </a:xfrm>
          <a:prstGeom prst="rightArrow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21240" y="2103120"/>
            <a:ext cx="1554480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3D91"/>
                </a:solidFill>
              </a:defRPr>
            </a:pPr>
            <a:r>
              <a:t>Power BI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Data ingestion and validation are handled in Python.</a:t>
            </a:r>
          </a:p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Star schema supports fund, date, NAV, transactions, performance and AUM analysis.</a:t>
            </a:r>
          </a:p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Reports, charts and dashboard screenshots complete the business presentation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EDA Highlights - NAV and SIP</a:t>
            </a:r>
          </a:p>
        </p:txBody>
      </p:sp>
      <p:pic>
        <p:nvPicPr>
          <p:cNvPr id="5" name="Picture 4" descr="01_nav_trend_all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486400" cy="2743200"/>
          </a:xfrm>
          <a:prstGeom prst="rect">
            <a:avLst/>
          </a:prstGeom>
        </p:spPr>
      </p:pic>
      <p:pic>
        <p:nvPicPr>
          <p:cNvPr id="6" name="Picture 5" descr="05_sip_inflow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976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NAV trends show market cycles across schemes.</a:t>
            </a:r>
          </a:p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SIP inflows rise strongly through the observed period.</a:t>
            </a:r>
          </a:p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Retail participation is visible through SIP and folio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EDA Highlights - Investors and Categories</a:t>
            </a:r>
          </a:p>
        </p:txBody>
      </p:sp>
      <p:pic>
        <p:nvPicPr>
          <p:cNvPr id="5" name="Picture 4" descr="07_category_inflow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486400" cy="2743200"/>
          </a:xfrm>
          <a:prstGeom prst="rect">
            <a:avLst/>
          </a:prstGeom>
        </p:spPr>
      </p:pic>
      <p:pic>
        <p:nvPicPr>
          <p:cNvPr id="6" name="Picture 5" descr="11_sip_amount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976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Category inflow heatmap highlights changing investor preferences.</a:t>
            </a:r>
          </a:p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State-wise SIP amount supports geographic prioritization.</a:t>
            </a:r>
          </a:p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City tier and age group analysis add investor segmentation.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Performance Metrics - Scorecard</a:t>
            </a:r>
          </a:p>
        </p:txBody>
      </p:sp>
      <p:pic>
        <p:nvPicPr>
          <p:cNvPr id="5" name="Picture 4" descr="top10_fund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4864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4630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A44"/>
                </a:solidFill>
              </a:defRPr>
            </a:pPr>
            <a:r>
              <a:t>Scorecard combines 3-year return, Sharpe, Alpha, expense ratio and maximum drawdown ranks.</a:t>
            </a:r>
          </a:p>
          <a:p>
            <a:pPr>
              <a:spcAft>
                <a:spcPts val="800"/>
              </a:spcAft>
              <a:defRPr sz="1700">
                <a:solidFill>
                  <a:srgbClr val="1F2A44"/>
                </a:solidFill>
              </a:defRPr>
            </a:pPr>
            <a:r>
              <a:t>The model gives a balanced comparison instead of relying on return alone.</a:t>
            </a:r>
          </a:p>
          <a:p>
            <a:pPr>
              <a:spcAft>
                <a:spcPts val="800"/>
              </a:spcAft>
              <a:defRPr sz="1700">
                <a:solidFill>
                  <a:srgbClr val="1F2A44"/>
                </a:solidFill>
              </a:defRPr>
            </a:pPr>
            <a:r>
              <a:t>Outputs include fund_scorecard.csv and performance metrics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Performance Metrics - Benchmark and Drawdown</a:t>
            </a:r>
          </a:p>
        </p:txBody>
      </p:sp>
      <p:pic>
        <p:nvPicPr>
          <p:cNvPr id="5" name="Picture 4" descr="benchmark_comparison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669280" cy="2926080"/>
          </a:xfrm>
          <a:prstGeom prst="rect">
            <a:avLst/>
          </a:prstGeom>
        </p:spPr>
      </p:pic>
      <p:pic>
        <p:nvPicPr>
          <p:cNvPr id="6" name="Picture 5" descr="worst_drawdow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493776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389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Benchmark comparison tracks top funds versus Nifty 50 and Nifty 100.</a:t>
            </a:r>
          </a:p>
          <a:p>
            <a:pPr>
              <a:spcAft>
                <a:spcPts val="800"/>
              </a:spcAft>
              <a:defRPr sz="1600">
                <a:solidFill>
                  <a:srgbClr val="1F2A44"/>
                </a:solidFill>
              </a:defRPr>
            </a:pPr>
            <a:r>
              <a:t>Drawdown analysis captures downside risk and market stress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Advanced Analytics</a:t>
            </a:r>
          </a:p>
        </p:txBody>
      </p:sp>
      <p:pic>
        <p:nvPicPr>
          <p:cNvPr id="5" name="Picture 4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486400" cy="2651760"/>
          </a:xfrm>
          <a:prstGeom prst="rect">
            <a:avLst/>
          </a:prstGeom>
        </p:spPr>
      </p:pic>
      <p:pic>
        <p:nvPicPr>
          <p:cNvPr id="6" name="Picture 5" descr="var_cvar_worst_fu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069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Historical VaR and CVaR estimate downside risk from daily returns.</a:t>
            </a:r>
          </a:p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Rolling 90-day Sharpe tracks changing risk-adjusted performance.</a:t>
            </a:r>
          </a:p>
          <a:p>
            <a:pPr>
              <a:spcAft>
                <a:spcPts val="800"/>
              </a:spcAft>
              <a:defRPr sz="1500">
                <a:solidFill>
                  <a:srgbClr val="1F2A44"/>
                </a:solidFill>
              </a:defRPr>
            </a:pPr>
            <a:r>
              <a:t>Cohort analysis, SIP continuity and HHI concentration add investor and portfolio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Dashboard Screenshots - Overview and Performance</a:t>
            </a:r>
          </a:p>
        </p:txBody>
      </p:sp>
      <p:pic>
        <p:nvPicPr>
          <p:cNvPr id="5" name="Picture 4" descr="0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577840" cy="3931920"/>
          </a:xfrm>
          <a:prstGeom prst="rect">
            <a:avLst/>
          </a:prstGeom>
        </p:spPr>
      </p:pic>
      <p:pic>
        <p:nvPicPr>
          <p:cNvPr id="6" name="Picture 5" descr="0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Dashboard Screenshots - Investor and Market</a:t>
            </a:r>
          </a:p>
        </p:txBody>
      </p:sp>
      <p:pic>
        <p:nvPicPr>
          <p:cNvPr id="5" name="Picture 4" descr="0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577840" cy="3931920"/>
          </a:xfrm>
          <a:prstGeom prst="rect">
            <a:avLst/>
          </a:prstGeom>
        </p:spPr>
      </p:pic>
      <p:pic>
        <p:nvPicPr>
          <p:cNvPr id="6" name="Picture 5" descr="0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91"/>
                </a:solidFill>
              </a:defRPr>
            </a:pPr>
            <a:r>
              <a:t>Key Findings &amp;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A44"/>
                </a:solidFill>
              </a:defRPr>
            </a:pPr>
            <a:r>
              <a:t>SIP inflow reaches Rs 31,002 Cr in the latest tracked month.</a:t>
            </a:r>
          </a:p>
          <a:p>
            <a:pPr>
              <a:spcAft>
                <a:spcPts val="800"/>
              </a:spcAft>
              <a:defRPr sz="2100">
                <a:solidFill>
                  <a:srgbClr val="1F2A44"/>
                </a:solidFill>
              </a:defRPr>
            </a:pPr>
            <a:r>
              <a:t>Folio count reaches 26.12 Cr, showing strong investor participation.</a:t>
            </a:r>
          </a:p>
          <a:p>
            <a:pPr>
              <a:spcAft>
                <a:spcPts val="800"/>
              </a:spcAft>
              <a:defRPr sz="2100">
                <a:solidFill>
                  <a:srgbClr val="1F2A44"/>
                </a:solidFill>
              </a:defRPr>
            </a:pPr>
            <a:r>
              <a:t>SBI Mutual Fund leads the latest AUM snapshot in the dataset.</a:t>
            </a:r>
          </a:p>
          <a:p>
            <a:pPr>
              <a:spcAft>
                <a:spcPts val="800"/>
              </a:spcAft>
              <a:defRPr sz="2100">
                <a:solidFill>
                  <a:srgbClr val="1F2A44"/>
                </a:solidFill>
              </a:defRPr>
            </a:pPr>
            <a:r>
              <a:t>Risk-adjusted metrics and downside risk are essential for fund recommendation.</a:t>
            </a:r>
          </a:p>
          <a:p>
            <a:pPr>
              <a:spcAft>
                <a:spcPts val="800"/>
              </a:spcAft>
              <a:defRPr sz="2100">
                <a:solidFill>
                  <a:srgbClr val="1F2A44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